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2F0E8"/>
                </a:solidFill>
                <a:latin typeface="Georgia"/>
              </a:defRPr>
            </a:pPr>
            <a:r>
              <a:t>Air Pressure Multi-Purpose Event Cannon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577840" cy="42976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98348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2F0E8"/>
                </a:solidFill>
              </a:defRPr>
            </a:pPr>
            <a:r>
              <a:t>Hudson Tien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Castro Valley High School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Engineering Design and Development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Final Defense</a:t>
            </a:r>
          </a:p>
        </p:txBody>
      </p:sp>
      <p:pic>
        <p:nvPicPr>
          <p:cNvPr id="7" name="Picture 6" descr="prototype-stan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65960"/>
            <a:ext cx="512064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965960"/>
            <a:ext cx="5120640" cy="4297680"/>
          </a:xfrm>
          <a:prstGeom prst="rect">
            <a:avLst/>
          </a:prstGeom>
          <a:noFill/>
          <a:ln w="12700"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Five 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Built for Leadership, sports teams, rallies, and school events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Designed for shirts, confetti, and light event payloads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Pivoted from spring force to regulated air pressure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Focused on ease of use, repeatability, and safety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Prototype is functional and ready for live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CVHS needs a safe, reliable, easy-to-use launcher.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The launcher must send event items farther than a normal throw.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The user should not need to understand complex pneumatics.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Stakeholders and Justification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Leadership class needs fast setup.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Sports teams and coaches need safe event equipment.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Students benefit when event items reach more of the crowd.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Prior launcher was returned because setup was not intuitive.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Existing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Hand throwing: cheap but inconsistent.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Commercial launchers: powerful but expensive.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Existing school cannon: usability problems.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Spring concept: high force and risky manufacturing.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Design Pivot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577840" cy="42976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98348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2F0E8"/>
                </a:solidFill>
              </a:defRPr>
            </a:pPr>
            <a:r>
              <a:t>• The spring-loaded concept looked simple at first.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• Force and manufacturing requirements made it a poor fit.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• Regulated air pressure is adjustable, testable, and easier to explain.</a:t>
            </a:r>
          </a:p>
        </p:txBody>
      </p:sp>
      <p:pic>
        <p:nvPicPr>
          <p:cNvPr id="7" name="Picture 6" descr="unpainted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65960"/>
            <a:ext cx="512064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965960"/>
            <a:ext cx="5120640" cy="4297680"/>
          </a:xfrm>
          <a:prstGeom prst="rect">
            <a:avLst/>
          </a:prstGeom>
          <a:noFill/>
          <a:ln w="12700"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First-time user learns operation in under 2 minutes.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Reload time under 60 seconds.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Launch reaches at least 60 feet with shirt bundle.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Prototype stays within safe pressure range.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Device can be carried by one or two students.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Final Prototype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577840" cy="42976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98348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2F0E8"/>
                </a:solidFill>
              </a:defRPr>
            </a:pPr>
            <a:r>
              <a:t>• Black pressure chamber stores compressed air.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Pressure gauge confirms operating state.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Blue valve hardware controls the pressure path.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Yellow release handle operates the launch.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Green/yellow launch tube guides the payload.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Brackets keep the assemblies aligned.</a:t>
            </a:r>
          </a:p>
        </p:txBody>
      </p:sp>
      <p:pic>
        <p:nvPicPr>
          <p:cNvPr id="7" name="Picture 6" descr="prototype-overview-pain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65960"/>
            <a:ext cx="512064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965960"/>
            <a:ext cx="5120640" cy="4297680"/>
          </a:xfrm>
          <a:prstGeom prst="rect">
            <a:avLst/>
          </a:prstGeom>
          <a:noFill/>
          <a:ln w="12700"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Pressure and Valve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577840" cy="42976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98348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2F0E8"/>
                </a:solidFill>
              </a:defRPr>
            </a:pPr>
            <a:r>
              <a:t>• Gauge gives the operator a visible pressure reading.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• Valve path controls fill, release, and reset.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• Hardware needs leak checks before launch.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• Pressure limits must come from the weakest rated part.</a:t>
            </a:r>
          </a:p>
        </p:txBody>
      </p:sp>
      <p:pic>
        <p:nvPicPr>
          <p:cNvPr id="7" name="Picture 6" descr="pressure-gauge-val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194560"/>
            <a:ext cx="512064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965960"/>
            <a:ext cx="5120640" cy="4297680"/>
          </a:xfrm>
          <a:prstGeom prst="rect">
            <a:avLst/>
          </a:prstGeom>
          <a:noFill/>
          <a:ln w="12700"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Release Handle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577840" cy="42976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98348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2F0E8"/>
                </a:solidFill>
              </a:defRPr>
            </a:pPr>
            <a:r>
              <a:t>• Handle gives the operator a simple control point.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• Control is placed away from the launch opening.</a:t>
            </a:r>
          </a:p>
          <a:p>
            <a:pPr>
              <a:spcAft>
                <a:spcPts val="600"/>
              </a:spcAft>
              <a:defRPr sz="2000">
                <a:solidFill>
                  <a:srgbClr val="B8C4B8"/>
                </a:solidFill>
              </a:defRPr>
            </a:pPr>
            <a:r>
              <a:t>• A clear handle makes the firing step easier to teach.</a:t>
            </a:r>
          </a:p>
        </p:txBody>
      </p:sp>
      <p:pic>
        <p:nvPicPr>
          <p:cNvPr id="7" name="Picture 6" descr="trigger-hand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194560"/>
            <a:ext cx="512064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965960"/>
            <a:ext cx="5120640" cy="4297680"/>
          </a:xfrm>
          <a:prstGeom prst="rect">
            <a:avLst/>
          </a:prstGeom>
          <a:noFill/>
          <a:ln w="12700"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STEM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Pressure creates force: F = P x A.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Launch angle affects range.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Payload mass affects acceleration.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Air leakage reduces repeatability.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Safety factor limits operating pressure.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User Manual 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577840" cy="42976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98348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2F0E8"/>
                </a:solidFill>
              </a:defRPr>
            </a:pPr>
            <a:r>
              <a:t>• Fill: add air to selected safe pressure.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Load: place the payload in the launch tube.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Fire: aim into safe area and use release handle.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Refill/Reload: reset valve path and prepare the next payload.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Refire: repeat the same pressure and loading process.</a:t>
            </a:r>
          </a:p>
        </p:txBody>
      </p:sp>
      <p:pic>
        <p:nvPicPr>
          <p:cNvPr id="7" name="Picture 6" descr="hardware-inst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65960"/>
            <a:ext cx="512064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965960"/>
            <a:ext cx="5120640" cy="4297680"/>
          </a:xfrm>
          <a:prstGeom prst="rect">
            <a:avLst/>
          </a:prstGeom>
          <a:noFill/>
          <a:ln w="12700"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Testing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Range test at multiple pressure levels.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Reload time test.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Usability test with first-time user.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Leak check before launch.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Safety checklist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Placeholder Testing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2F0E8"/>
                </a:solidFill>
              </a:defRPr>
            </a:pPr>
            <a:r>
              <a:t>• 30 psi: 35 ft average</a:t>
            </a:r>
          </a:p>
          <a:p>
            <a:pPr>
              <a:spcAft>
                <a:spcPts val="800"/>
              </a:spcAft>
              <a:defRPr sz="1700">
                <a:solidFill>
                  <a:srgbClr val="B8C4B8"/>
                </a:solidFill>
              </a:defRPr>
            </a:pPr>
            <a:r>
              <a:t>• 45 psi: 63 ft average</a:t>
            </a:r>
          </a:p>
          <a:p>
            <a:pPr>
              <a:spcAft>
                <a:spcPts val="800"/>
              </a:spcAft>
              <a:defRPr sz="1700">
                <a:solidFill>
                  <a:srgbClr val="B8C4B8"/>
                </a:solidFill>
              </a:defRPr>
            </a:pPr>
            <a:r>
              <a:t>• 60 psi: 82 ft average</a:t>
            </a:r>
          </a:p>
          <a:p>
            <a:pPr>
              <a:spcAft>
                <a:spcPts val="800"/>
              </a:spcAft>
              <a:defRPr sz="1700">
                <a:solidFill>
                  <a:srgbClr val="B8C4B8"/>
                </a:solidFill>
              </a:defRPr>
            </a:pPr>
            <a:r>
              <a:t>• Reload time: 35 seconds average</a:t>
            </a:r>
          </a:p>
          <a:p>
            <a:pPr>
              <a:spcAft>
                <a:spcPts val="800"/>
              </a:spcAft>
              <a:defRPr sz="1700">
                <a:solidFill>
                  <a:srgbClr val="B8C4B8"/>
                </a:solidFill>
              </a:defRPr>
            </a:pPr>
            <a:r>
              <a:t>• User learning time: under 2 minutes</a:t>
            </a:r>
          </a:p>
          <a:p>
            <a:pPr>
              <a:spcAft>
                <a:spcPts val="800"/>
              </a:spcAft>
              <a:defRPr sz="1700">
                <a:solidFill>
                  <a:srgbClr val="B8C4B8"/>
                </a:solidFill>
              </a:defRPr>
            </a:pPr>
            <a:r>
              <a:t>• Review: replace these with measured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Feedback and Modifications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577840" cy="42976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98348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2F0E8"/>
                </a:solidFill>
              </a:defRPr>
            </a:pPr>
            <a:r>
              <a:t>• Setup was clearer than the old cannon.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Gauge made operation easier to understand.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Range was useful for rallies and field events.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Permanent safety labeling is needed.</a:t>
            </a:r>
          </a:p>
          <a:p>
            <a:pPr>
              <a:spcAft>
                <a:spcPts val="600"/>
              </a:spcAft>
              <a:defRPr sz="1700">
                <a:solidFill>
                  <a:srgbClr val="B8C4B8"/>
                </a:solidFill>
              </a:defRPr>
            </a:pPr>
            <a:r>
              <a:t>• Next: brackets, checklist, payload testing, angle indicator, transport case.</a:t>
            </a:r>
          </a:p>
        </p:txBody>
      </p:sp>
      <p:pic>
        <p:nvPicPr>
          <p:cNvPr id="7" name="Picture 6" descr="painted-assemb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65960"/>
            <a:ext cx="512064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965960"/>
            <a:ext cx="5120640" cy="4297680"/>
          </a:xfrm>
          <a:prstGeom prst="rect">
            <a:avLst/>
          </a:prstGeom>
          <a:noFill/>
          <a:ln w="12700"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9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9B3D"/>
                </a:solidFill>
                <a:latin typeface="Trebuchet MS"/>
              </a:defRPr>
            </a:pPr>
            <a:r>
              <a:t>Slide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2F0E8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881360" cy="4069080"/>
          </a:xfrm>
          <a:prstGeom prst="roundRect">
            <a:avLst/>
          </a:prstGeom>
          <a:solidFill>
            <a:srgbClr val="1E2D28"/>
          </a:solidFill>
          <a:ln>
            <a:solidFill>
              <a:srgbClr val="365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241280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2F0E8"/>
                </a:solidFill>
              </a:defRPr>
            </a:pPr>
            <a:r>
              <a:t>• A school event launcher is successful when users can operate it safely and consistently.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The air pressure design better fits actual users than the original spring-loaded concept.</a:t>
            </a:r>
          </a:p>
          <a:p>
            <a:pPr>
              <a:spcAft>
                <a:spcPts val="800"/>
              </a:spcAft>
              <a:defRPr sz="2000">
                <a:solidFill>
                  <a:srgbClr val="B8C4B8"/>
                </a:solidFill>
              </a:defRPr>
            </a:pPr>
            <a:r>
              <a:t>• The pivot was an engineering decision based on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B8C4B8"/>
                </a:solidFill>
                <a:latin typeface="Trebuchet MS"/>
              </a:defRPr>
            </a:pPr>
            <a:r>
              <a:t>Hudson Tien | PLTW Engineering Design and Development | Replace placeholder data before final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