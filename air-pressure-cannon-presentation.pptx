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3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D89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89B3D"/>
                </a:solidFill>
              </a:defRPr>
            </a:pPr>
            <a:r>
              <a:t>Slide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88136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2F0E8"/>
                </a:solidFill>
                <a:latin typeface="Georgia"/>
              </a:defRPr>
            </a:pPr>
            <a:r>
              <a:t>Air Pressure Multi-Purpose Event Cannon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240280"/>
            <a:ext cx="10881360" cy="3886200"/>
          </a:xfrm>
          <a:prstGeom prst="roundRect">
            <a:avLst/>
          </a:prstGeom>
          <a:solidFill>
            <a:srgbClr val="1E2D28"/>
          </a:solidFill>
          <a:ln>
            <a:solidFill>
              <a:srgbClr val="3651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487168"/>
            <a:ext cx="10241280" cy="3429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F2F0E8"/>
                </a:solidFill>
              </a:defRPr>
            </a:pPr>
            <a:r>
              <a:t>Hudson Tien</a:t>
            </a:r>
          </a:p>
          <a:p>
            <a:pPr>
              <a:spcAft>
                <a:spcPts val="800"/>
              </a:spcAft>
              <a:defRPr sz="2200">
                <a:solidFill>
                  <a:srgbClr val="B8C4B8"/>
                </a:solidFill>
              </a:defRPr>
            </a:pPr>
            <a:r>
              <a:t>Castro Valley High School</a:t>
            </a:r>
          </a:p>
          <a:p>
            <a:pPr>
              <a:spcAft>
                <a:spcPts val="800"/>
              </a:spcAft>
              <a:defRPr sz="2200">
                <a:solidFill>
                  <a:srgbClr val="B8C4B8"/>
                </a:solidFill>
              </a:defRPr>
            </a:pPr>
            <a:r>
              <a:t>Engineering Design and Development</a:t>
            </a:r>
          </a:p>
          <a:p>
            <a:pPr>
              <a:spcAft>
                <a:spcPts val="800"/>
              </a:spcAft>
              <a:defRPr sz="2200">
                <a:solidFill>
                  <a:srgbClr val="B8C4B8"/>
                </a:solidFill>
              </a:defRPr>
            </a:pPr>
            <a:r>
              <a:t>Final Defense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B8C4B8"/>
                </a:solidFill>
              </a:defRPr>
            </a:pPr>
            <a:r>
              <a:t>Hudson Tien | PLTW Engineering Design and Development | Replace placeholder data before final submission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3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D89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89B3D"/>
                </a:solidFill>
              </a:defRPr>
            </a:pPr>
            <a:r>
              <a:t>Slide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88136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2F0E8"/>
                </a:solidFill>
                <a:latin typeface="Georgia"/>
              </a:defRPr>
            </a:pPr>
            <a:r>
              <a:t>Five Facts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240280"/>
            <a:ext cx="10881360" cy="3886200"/>
          </a:xfrm>
          <a:prstGeom prst="roundRect">
            <a:avLst/>
          </a:prstGeom>
          <a:solidFill>
            <a:srgbClr val="1E2D28"/>
          </a:solidFill>
          <a:ln>
            <a:solidFill>
              <a:srgbClr val="3651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487168"/>
            <a:ext cx="10241280" cy="3429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2F0E8"/>
                </a:solidFill>
              </a:defRPr>
            </a:pPr>
            <a:r>
              <a:t>• Built for Leadership, sports teams, rallies, and school events</a:t>
            </a:r>
          </a:p>
          <a:p>
            <a:pPr>
              <a:spcAft>
                <a:spcPts val="800"/>
              </a:spcAft>
              <a:defRPr sz="1800">
                <a:solidFill>
                  <a:srgbClr val="B8C4B8"/>
                </a:solidFill>
              </a:defRPr>
            </a:pPr>
            <a:r>
              <a:t>• Designed for shirts, confetti, and light event payloads</a:t>
            </a:r>
          </a:p>
          <a:p>
            <a:pPr>
              <a:spcAft>
                <a:spcPts val="800"/>
              </a:spcAft>
              <a:defRPr sz="1800">
                <a:solidFill>
                  <a:srgbClr val="B8C4B8"/>
                </a:solidFill>
              </a:defRPr>
            </a:pPr>
            <a:r>
              <a:t>• Pivoted from spring force to regulated air pressure</a:t>
            </a:r>
          </a:p>
          <a:p>
            <a:pPr>
              <a:spcAft>
                <a:spcPts val="800"/>
              </a:spcAft>
              <a:defRPr sz="1800">
                <a:solidFill>
                  <a:srgbClr val="B8C4B8"/>
                </a:solidFill>
              </a:defRPr>
            </a:pPr>
            <a:r>
              <a:t>• Focused on ease of use, repeatability, and safety</a:t>
            </a:r>
          </a:p>
          <a:p>
            <a:pPr>
              <a:spcAft>
                <a:spcPts val="800"/>
              </a:spcAft>
              <a:defRPr sz="1800">
                <a:solidFill>
                  <a:srgbClr val="B8C4B8"/>
                </a:solidFill>
              </a:defRPr>
            </a:pPr>
            <a:r>
              <a:t>• Prototype is functional and ready for live demonstration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B8C4B8"/>
                </a:solidFill>
              </a:defRPr>
            </a:pPr>
            <a:r>
              <a:t>Hudson Tien | PLTW Engineering Design and Development | Replace placeholder data before final submission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3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D89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89B3D"/>
                </a:solidFill>
              </a:defRPr>
            </a:pPr>
            <a:r>
              <a:t>Slide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88136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2F0E8"/>
                </a:solidFill>
                <a:latin typeface="Georgia"/>
              </a:defRPr>
            </a:pPr>
            <a:r>
              <a:t>Problem Statement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240280"/>
            <a:ext cx="10881360" cy="3886200"/>
          </a:xfrm>
          <a:prstGeom prst="roundRect">
            <a:avLst/>
          </a:prstGeom>
          <a:solidFill>
            <a:srgbClr val="1E2D28"/>
          </a:solidFill>
          <a:ln>
            <a:solidFill>
              <a:srgbClr val="3651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487168"/>
            <a:ext cx="10241280" cy="3429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F2F0E8"/>
                </a:solidFill>
              </a:defRPr>
            </a:pPr>
            <a:r>
              <a:t>• CVHS needs a safe, reliable, easy-to-use launcher.</a:t>
            </a:r>
          </a:p>
          <a:p>
            <a:pPr>
              <a:spcAft>
                <a:spcPts val="800"/>
              </a:spcAft>
              <a:defRPr sz="2200">
                <a:solidFill>
                  <a:srgbClr val="B8C4B8"/>
                </a:solidFill>
              </a:defRPr>
            </a:pPr>
            <a:r>
              <a:t>• The launcher must send event items farther than a normal throw.</a:t>
            </a:r>
          </a:p>
          <a:p>
            <a:pPr>
              <a:spcAft>
                <a:spcPts val="800"/>
              </a:spcAft>
              <a:defRPr sz="2200">
                <a:solidFill>
                  <a:srgbClr val="B8C4B8"/>
                </a:solidFill>
              </a:defRPr>
            </a:pPr>
            <a:r>
              <a:t>• The user should not need to understand complex pneumatics.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B8C4B8"/>
                </a:solidFill>
              </a:defRPr>
            </a:pPr>
            <a:r>
              <a:t>Hudson Tien | PLTW Engineering Design and Development | Replace placeholder data before final submission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3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D89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89B3D"/>
                </a:solidFill>
              </a:defRPr>
            </a:pPr>
            <a:r>
              <a:t>Slide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88136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2F0E8"/>
                </a:solidFill>
                <a:latin typeface="Georgia"/>
              </a:defRPr>
            </a:pPr>
            <a:r>
              <a:t>Stakeholders and Justification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240280"/>
            <a:ext cx="10881360" cy="3886200"/>
          </a:xfrm>
          <a:prstGeom prst="roundRect">
            <a:avLst/>
          </a:prstGeom>
          <a:solidFill>
            <a:srgbClr val="1E2D28"/>
          </a:solidFill>
          <a:ln>
            <a:solidFill>
              <a:srgbClr val="3651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487168"/>
            <a:ext cx="10241280" cy="3429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F2F0E8"/>
                </a:solidFill>
              </a:defRPr>
            </a:pPr>
            <a:r>
              <a:t>• Leadership class needs fast setup.</a:t>
            </a:r>
          </a:p>
          <a:p>
            <a:pPr>
              <a:spcAft>
                <a:spcPts val="800"/>
              </a:spcAft>
              <a:defRPr sz="2200">
                <a:solidFill>
                  <a:srgbClr val="B8C4B8"/>
                </a:solidFill>
              </a:defRPr>
            </a:pPr>
            <a:r>
              <a:t>• Sports teams and coaches need safe event equipment.</a:t>
            </a:r>
          </a:p>
          <a:p>
            <a:pPr>
              <a:spcAft>
                <a:spcPts val="800"/>
              </a:spcAft>
              <a:defRPr sz="2200">
                <a:solidFill>
                  <a:srgbClr val="B8C4B8"/>
                </a:solidFill>
              </a:defRPr>
            </a:pPr>
            <a:r>
              <a:t>• Students benefit when event items reach more of the crowd.</a:t>
            </a:r>
          </a:p>
          <a:p>
            <a:pPr>
              <a:spcAft>
                <a:spcPts val="800"/>
              </a:spcAft>
              <a:defRPr sz="2200">
                <a:solidFill>
                  <a:srgbClr val="B8C4B8"/>
                </a:solidFill>
              </a:defRPr>
            </a:pPr>
            <a:r>
              <a:t>• Prior launcher was returned because setup was not intuitive.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B8C4B8"/>
                </a:solidFill>
              </a:defRPr>
            </a:pPr>
            <a:r>
              <a:t>Hudson Tien | PLTW Engineering Design and Development | Replace placeholder data before final submission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3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D89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89B3D"/>
                </a:solidFill>
              </a:defRPr>
            </a:pPr>
            <a:r>
              <a:t>Slide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88136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2F0E8"/>
                </a:solidFill>
                <a:latin typeface="Georgia"/>
              </a:defRPr>
            </a:pPr>
            <a:r>
              <a:t>Existing Solutions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240280"/>
            <a:ext cx="10881360" cy="3886200"/>
          </a:xfrm>
          <a:prstGeom prst="roundRect">
            <a:avLst/>
          </a:prstGeom>
          <a:solidFill>
            <a:srgbClr val="1E2D28"/>
          </a:solidFill>
          <a:ln>
            <a:solidFill>
              <a:srgbClr val="3651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487168"/>
            <a:ext cx="10241280" cy="3429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F2F0E8"/>
                </a:solidFill>
              </a:defRPr>
            </a:pPr>
            <a:r>
              <a:t>• Hand throwing: cheap but inconsistent.</a:t>
            </a:r>
          </a:p>
          <a:p>
            <a:pPr>
              <a:spcAft>
                <a:spcPts val="800"/>
              </a:spcAft>
              <a:defRPr sz="2200">
                <a:solidFill>
                  <a:srgbClr val="B8C4B8"/>
                </a:solidFill>
              </a:defRPr>
            </a:pPr>
            <a:r>
              <a:t>• Commercial launchers: powerful but expensive.</a:t>
            </a:r>
          </a:p>
          <a:p>
            <a:pPr>
              <a:spcAft>
                <a:spcPts val="800"/>
              </a:spcAft>
              <a:defRPr sz="2200">
                <a:solidFill>
                  <a:srgbClr val="B8C4B8"/>
                </a:solidFill>
              </a:defRPr>
            </a:pPr>
            <a:r>
              <a:t>• Existing school cannon: usability problems.</a:t>
            </a:r>
          </a:p>
          <a:p>
            <a:pPr>
              <a:spcAft>
                <a:spcPts val="800"/>
              </a:spcAft>
              <a:defRPr sz="2200">
                <a:solidFill>
                  <a:srgbClr val="B8C4B8"/>
                </a:solidFill>
              </a:defRPr>
            </a:pPr>
            <a:r>
              <a:t>• Spring concept: high force and risky manufacturing.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B8C4B8"/>
                </a:solidFill>
              </a:defRPr>
            </a:pPr>
            <a:r>
              <a:t>Hudson Tien | PLTW Engineering Design and Development | Replace placeholder data before final submission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3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D89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89B3D"/>
                </a:solidFill>
              </a:defRPr>
            </a:pPr>
            <a:r>
              <a:t>Slide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88136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2F0E8"/>
                </a:solidFill>
                <a:latin typeface="Georgia"/>
              </a:defRPr>
            </a:pPr>
            <a:r>
              <a:t>Design Pivot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240280"/>
            <a:ext cx="10881360" cy="3886200"/>
          </a:xfrm>
          <a:prstGeom prst="roundRect">
            <a:avLst/>
          </a:prstGeom>
          <a:solidFill>
            <a:srgbClr val="1E2D28"/>
          </a:solidFill>
          <a:ln>
            <a:solidFill>
              <a:srgbClr val="3651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487168"/>
            <a:ext cx="10241280" cy="3429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F2F0E8"/>
                </a:solidFill>
              </a:defRPr>
            </a:pPr>
            <a:r>
              <a:t>• The spring-loaded concept looked simple at first.</a:t>
            </a:r>
          </a:p>
          <a:p>
            <a:pPr>
              <a:spcAft>
                <a:spcPts val="800"/>
              </a:spcAft>
              <a:defRPr sz="2200">
                <a:solidFill>
                  <a:srgbClr val="B8C4B8"/>
                </a:solidFill>
              </a:defRPr>
            </a:pPr>
            <a:r>
              <a:t>• Force and manufacturing requirements made it a poor fit.</a:t>
            </a:r>
          </a:p>
          <a:p>
            <a:pPr>
              <a:spcAft>
                <a:spcPts val="800"/>
              </a:spcAft>
              <a:defRPr sz="2200">
                <a:solidFill>
                  <a:srgbClr val="B8C4B8"/>
                </a:solidFill>
              </a:defRPr>
            </a:pPr>
            <a:r>
              <a:t>• Regulated air pressure is adjustable, testable, and easier to explain.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B8C4B8"/>
                </a:solidFill>
              </a:defRPr>
            </a:pPr>
            <a:r>
              <a:t>Hudson Tien | PLTW Engineering Design and Development | Replace placeholder data before final submission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3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D89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89B3D"/>
                </a:solidFill>
              </a:defRPr>
            </a:pPr>
            <a:r>
              <a:t>Slide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88136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2F0E8"/>
                </a:solidFill>
                <a:latin typeface="Georgia"/>
              </a:defRPr>
            </a:pPr>
            <a:r>
              <a:t>Requirements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240280"/>
            <a:ext cx="10881360" cy="3886200"/>
          </a:xfrm>
          <a:prstGeom prst="roundRect">
            <a:avLst/>
          </a:prstGeom>
          <a:solidFill>
            <a:srgbClr val="1E2D28"/>
          </a:solidFill>
          <a:ln>
            <a:solidFill>
              <a:srgbClr val="3651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487168"/>
            <a:ext cx="10241280" cy="3429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2F0E8"/>
                </a:solidFill>
              </a:defRPr>
            </a:pPr>
            <a:r>
              <a:t>• First-time user learns operation in under 2 minutes.</a:t>
            </a:r>
          </a:p>
          <a:p>
            <a:pPr>
              <a:spcAft>
                <a:spcPts val="800"/>
              </a:spcAft>
              <a:defRPr sz="1800">
                <a:solidFill>
                  <a:srgbClr val="B8C4B8"/>
                </a:solidFill>
              </a:defRPr>
            </a:pPr>
            <a:r>
              <a:t>• Reload time under 60 seconds.</a:t>
            </a:r>
          </a:p>
          <a:p>
            <a:pPr>
              <a:spcAft>
                <a:spcPts val="800"/>
              </a:spcAft>
              <a:defRPr sz="1800">
                <a:solidFill>
                  <a:srgbClr val="B8C4B8"/>
                </a:solidFill>
              </a:defRPr>
            </a:pPr>
            <a:r>
              <a:t>• Launch reaches at least 60 feet with shirt bundle.</a:t>
            </a:r>
          </a:p>
          <a:p>
            <a:pPr>
              <a:spcAft>
                <a:spcPts val="800"/>
              </a:spcAft>
              <a:defRPr sz="1800">
                <a:solidFill>
                  <a:srgbClr val="B8C4B8"/>
                </a:solidFill>
              </a:defRPr>
            </a:pPr>
            <a:r>
              <a:t>• Prototype stays within safe pressure range.</a:t>
            </a:r>
          </a:p>
          <a:p>
            <a:pPr>
              <a:spcAft>
                <a:spcPts val="800"/>
              </a:spcAft>
              <a:defRPr sz="1800">
                <a:solidFill>
                  <a:srgbClr val="B8C4B8"/>
                </a:solidFill>
              </a:defRPr>
            </a:pPr>
            <a:r>
              <a:t>• Device can be carried by one or two students.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B8C4B8"/>
                </a:solidFill>
              </a:defRPr>
            </a:pPr>
            <a:r>
              <a:t>Hudson Tien | PLTW Engineering Design and Development | Replace placeholder data before final submission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3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D89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89B3D"/>
                </a:solidFill>
              </a:defRPr>
            </a:pPr>
            <a:r>
              <a:t>Slide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88136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2F0E8"/>
                </a:solidFill>
                <a:latin typeface="Georgia"/>
              </a:defRPr>
            </a:pPr>
            <a:r>
              <a:t>Final Prototype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240280"/>
            <a:ext cx="10881360" cy="3886200"/>
          </a:xfrm>
          <a:prstGeom prst="roundRect">
            <a:avLst/>
          </a:prstGeom>
          <a:solidFill>
            <a:srgbClr val="1E2D28"/>
          </a:solidFill>
          <a:ln>
            <a:solidFill>
              <a:srgbClr val="3651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487168"/>
            <a:ext cx="10241280" cy="3429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2F0E8"/>
                </a:solidFill>
              </a:defRPr>
            </a:pPr>
            <a:r>
              <a:t>• Air chamber</a:t>
            </a:r>
          </a:p>
          <a:p>
            <a:pPr>
              <a:spcAft>
                <a:spcPts val="800"/>
              </a:spcAft>
              <a:defRPr sz="1800">
                <a:solidFill>
                  <a:srgbClr val="B8C4B8"/>
                </a:solidFill>
              </a:defRPr>
            </a:pPr>
            <a:r>
              <a:t>• Barrel or launch tube</a:t>
            </a:r>
          </a:p>
          <a:p>
            <a:pPr>
              <a:spcAft>
                <a:spcPts val="800"/>
              </a:spcAft>
              <a:defRPr sz="1800">
                <a:solidFill>
                  <a:srgbClr val="B8C4B8"/>
                </a:solidFill>
              </a:defRPr>
            </a:pPr>
            <a:r>
              <a:t>• Pressure gauge</a:t>
            </a:r>
          </a:p>
          <a:p>
            <a:pPr>
              <a:spcAft>
                <a:spcPts val="800"/>
              </a:spcAft>
              <a:defRPr sz="1800">
                <a:solidFill>
                  <a:srgbClr val="B8C4B8"/>
                </a:solidFill>
              </a:defRPr>
            </a:pPr>
            <a:r>
              <a:t>• Fill valve</a:t>
            </a:r>
          </a:p>
          <a:p>
            <a:pPr>
              <a:spcAft>
                <a:spcPts val="800"/>
              </a:spcAft>
              <a:defRPr sz="1800">
                <a:solidFill>
                  <a:srgbClr val="B8C4B8"/>
                </a:solidFill>
              </a:defRPr>
            </a:pPr>
            <a:r>
              <a:t>• Release valve or trigger</a:t>
            </a:r>
          </a:p>
          <a:p>
            <a:pPr>
              <a:spcAft>
                <a:spcPts val="800"/>
              </a:spcAft>
              <a:defRPr sz="1800">
                <a:solidFill>
                  <a:srgbClr val="B8C4B8"/>
                </a:solidFill>
              </a:defRPr>
            </a:pPr>
            <a:r>
              <a:t>• Base or support frame</a:t>
            </a:r>
          </a:p>
          <a:p>
            <a:pPr>
              <a:spcAft>
                <a:spcPts val="800"/>
              </a:spcAft>
              <a:defRPr sz="1800">
                <a:solidFill>
                  <a:srgbClr val="B8C4B8"/>
                </a:solidFill>
              </a:defRPr>
            </a:pPr>
            <a:r>
              <a:t>• Safety labels and operating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B8C4B8"/>
                </a:solidFill>
              </a:defRPr>
            </a:pPr>
            <a:r>
              <a:t>Hudson Tien | PLTW Engineering Design and Development | Replace placeholder data before final submission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3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D89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89B3D"/>
                </a:solidFill>
              </a:defRPr>
            </a:pPr>
            <a:r>
              <a:t>Slide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88136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2F0E8"/>
                </a:solidFill>
                <a:latin typeface="Georgia"/>
              </a:defRPr>
            </a:pPr>
            <a:r>
              <a:t>STEM Principles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240280"/>
            <a:ext cx="10881360" cy="3886200"/>
          </a:xfrm>
          <a:prstGeom prst="roundRect">
            <a:avLst/>
          </a:prstGeom>
          <a:solidFill>
            <a:srgbClr val="1E2D28"/>
          </a:solidFill>
          <a:ln>
            <a:solidFill>
              <a:srgbClr val="3651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487168"/>
            <a:ext cx="10241280" cy="3429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2F0E8"/>
                </a:solidFill>
              </a:defRPr>
            </a:pPr>
            <a:r>
              <a:t>• Pressure creates force: F = P x A.</a:t>
            </a:r>
          </a:p>
          <a:p>
            <a:pPr>
              <a:spcAft>
                <a:spcPts val="800"/>
              </a:spcAft>
              <a:defRPr sz="1800">
                <a:solidFill>
                  <a:srgbClr val="B8C4B8"/>
                </a:solidFill>
              </a:defRPr>
            </a:pPr>
            <a:r>
              <a:t>• Launch angle affects range.</a:t>
            </a:r>
          </a:p>
          <a:p>
            <a:pPr>
              <a:spcAft>
                <a:spcPts val="800"/>
              </a:spcAft>
              <a:defRPr sz="1800">
                <a:solidFill>
                  <a:srgbClr val="B8C4B8"/>
                </a:solidFill>
              </a:defRPr>
            </a:pPr>
            <a:r>
              <a:t>• Payload mass affects acceleration.</a:t>
            </a:r>
          </a:p>
          <a:p>
            <a:pPr>
              <a:spcAft>
                <a:spcPts val="800"/>
              </a:spcAft>
              <a:defRPr sz="1800">
                <a:solidFill>
                  <a:srgbClr val="B8C4B8"/>
                </a:solidFill>
              </a:defRPr>
            </a:pPr>
            <a:r>
              <a:t>• Air leakage reduces repeatability.</a:t>
            </a:r>
          </a:p>
          <a:p>
            <a:pPr>
              <a:spcAft>
                <a:spcPts val="800"/>
              </a:spcAft>
              <a:defRPr sz="1800">
                <a:solidFill>
                  <a:srgbClr val="B8C4B8"/>
                </a:solidFill>
              </a:defRPr>
            </a:pPr>
            <a:r>
              <a:t>• Safety factor limits operating pressure.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B8C4B8"/>
                </a:solidFill>
              </a:defRPr>
            </a:pPr>
            <a:r>
              <a:t>Hudson Tien | PLTW Engineering Design and Development | Replace placeholder data before final submission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3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D89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89B3D"/>
                </a:solidFill>
              </a:defRPr>
            </a:pPr>
            <a:r>
              <a:t>Slide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88136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2F0E8"/>
                </a:solidFill>
                <a:latin typeface="Georgia"/>
              </a:defRPr>
            </a:pPr>
            <a:r>
              <a:t>Build Procedure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240280"/>
            <a:ext cx="10881360" cy="3886200"/>
          </a:xfrm>
          <a:prstGeom prst="roundRect">
            <a:avLst/>
          </a:prstGeom>
          <a:solidFill>
            <a:srgbClr val="1E2D28"/>
          </a:solidFill>
          <a:ln>
            <a:solidFill>
              <a:srgbClr val="3651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487168"/>
            <a:ext cx="10241280" cy="3429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2F0E8"/>
                </a:solidFill>
              </a:defRPr>
            </a:pPr>
            <a:r>
              <a:t>• Define requirements.</a:t>
            </a:r>
          </a:p>
          <a:p>
            <a:pPr>
              <a:spcAft>
                <a:spcPts val="800"/>
              </a:spcAft>
              <a:defRPr sz="1800">
                <a:solidFill>
                  <a:srgbClr val="B8C4B8"/>
                </a:solidFill>
              </a:defRPr>
            </a:pPr>
            <a:r>
              <a:t>• Build low-pressure air path.</a:t>
            </a:r>
          </a:p>
          <a:p>
            <a:pPr>
              <a:spcAft>
                <a:spcPts val="800"/>
              </a:spcAft>
              <a:defRPr sz="1800">
                <a:solidFill>
                  <a:srgbClr val="B8C4B8"/>
                </a:solidFill>
              </a:defRPr>
            </a:pPr>
            <a:r>
              <a:t>• Add gauge and fill/release controls.</a:t>
            </a:r>
          </a:p>
          <a:p>
            <a:pPr>
              <a:spcAft>
                <a:spcPts val="800"/>
              </a:spcAft>
              <a:defRPr sz="1800">
                <a:solidFill>
                  <a:srgbClr val="B8C4B8"/>
                </a:solidFill>
              </a:defRPr>
            </a:pPr>
            <a:r>
              <a:t>• Build support frame.</a:t>
            </a:r>
          </a:p>
          <a:p>
            <a:pPr>
              <a:spcAft>
                <a:spcPts val="800"/>
              </a:spcAft>
              <a:defRPr sz="1800">
                <a:solidFill>
                  <a:srgbClr val="B8C4B8"/>
                </a:solidFill>
              </a:defRPr>
            </a:pPr>
            <a:r>
              <a:t>• Add labels and operating steps.</a:t>
            </a:r>
          </a:p>
          <a:p>
            <a:pPr>
              <a:spcAft>
                <a:spcPts val="800"/>
              </a:spcAft>
              <a:defRPr sz="1800">
                <a:solidFill>
                  <a:srgbClr val="B8C4B8"/>
                </a:solidFill>
              </a:defRPr>
            </a:pPr>
            <a:r>
              <a:t>• Test range, reload time, and usability.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B8C4B8"/>
                </a:solidFill>
              </a:defRPr>
            </a:pPr>
            <a:r>
              <a:t>Hudson Tien | PLTW Engineering Design and Development | Replace placeholder data before final submission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3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D89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89B3D"/>
                </a:solidFill>
              </a:defRPr>
            </a:pPr>
            <a:r>
              <a:t>Slide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88136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2F0E8"/>
                </a:solidFill>
                <a:latin typeface="Georgia"/>
              </a:defRPr>
            </a:pPr>
            <a:r>
              <a:t>Testing Plan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240280"/>
            <a:ext cx="10881360" cy="3886200"/>
          </a:xfrm>
          <a:prstGeom prst="roundRect">
            <a:avLst/>
          </a:prstGeom>
          <a:solidFill>
            <a:srgbClr val="1E2D28"/>
          </a:solidFill>
          <a:ln>
            <a:solidFill>
              <a:srgbClr val="3651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487168"/>
            <a:ext cx="10241280" cy="3429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2F0E8"/>
                </a:solidFill>
              </a:defRPr>
            </a:pPr>
            <a:r>
              <a:t>• Range test at multiple pressure levels.</a:t>
            </a:r>
          </a:p>
          <a:p>
            <a:pPr>
              <a:spcAft>
                <a:spcPts val="800"/>
              </a:spcAft>
              <a:defRPr sz="1800">
                <a:solidFill>
                  <a:srgbClr val="B8C4B8"/>
                </a:solidFill>
              </a:defRPr>
            </a:pPr>
            <a:r>
              <a:t>• Reload time test.</a:t>
            </a:r>
          </a:p>
          <a:p>
            <a:pPr>
              <a:spcAft>
                <a:spcPts val="800"/>
              </a:spcAft>
              <a:defRPr sz="1800">
                <a:solidFill>
                  <a:srgbClr val="B8C4B8"/>
                </a:solidFill>
              </a:defRPr>
            </a:pPr>
            <a:r>
              <a:t>• Usability test with first-time user.</a:t>
            </a:r>
          </a:p>
          <a:p>
            <a:pPr>
              <a:spcAft>
                <a:spcPts val="800"/>
              </a:spcAft>
              <a:defRPr sz="1800">
                <a:solidFill>
                  <a:srgbClr val="B8C4B8"/>
                </a:solidFill>
              </a:defRPr>
            </a:pPr>
            <a:r>
              <a:t>• Leak check before launch.</a:t>
            </a:r>
          </a:p>
          <a:p>
            <a:pPr>
              <a:spcAft>
                <a:spcPts val="800"/>
              </a:spcAft>
              <a:defRPr sz="1800">
                <a:solidFill>
                  <a:srgbClr val="B8C4B8"/>
                </a:solidFill>
              </a:defRPr>
            </a:pPr>
            <a:r>
              <a:t>• Safety checklist review.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B8C4B8"/>
                </a:solidFill>
              </a:defRPr>
            </a:pPr>
            <a:r>
              <a:t>Hudson Tien | PLTW Engineering Design and Development | Replace placeholder data before final submission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3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D89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89B3D"/>
                </a:solidFill>
              </a:defRPr>
            </a:pPr>
            <a:r>
              <a:t>Slide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88136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2F0E8"/>
                </a:solidFill>
                <a:latin typeface="Georgia"/>
              </a:defRPr>
            </a:pPr>
            <a:r>
              <a:t>Placeholder Testing Results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240280"/>
            <a:ext cx="10881360" cy="3886200"/>
          </a:xfrm>
          <a:prstGeom prst="roundRect">
            <a:avLst/>
          </a:prstGeom>
          <a:solidFill>
            <a:srgbClr val="1E2D28"/>
          </a:solidFill>
          <a:ln>
            <a:solidFill>
              <a:srgbClr val="3651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487168"/>
            <a:ext cx="10241280" cy="3429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2F0E8"/>
                </a:solidFill>
              </a:defRPr>
            </a:pPr>
            <a:r>
              <a:t>• 30 psi: 35 ft average</a:t>
            </a:r>
          </a:p>
          <a:p>
            <a:pPr>
              <a:spcAft>
                <a:spcPts val="800"/>
              </a:spcAft>
              <a:defRPr sz="1800">
                <a:solidFill>
                  <a:srgbClr val="B8C4B8"/>
                </a:solidFill>
              </a:defRPr>
            </a:pPr>
            <a:r>
              <a:t>• 45 psi: 63 ft average</a:t>
            </a:r>
          </a:p>
          <a:p>
            <a:pPr>
              <a:spcAft>
                <a:spcPts val="800"/>
              </a:spcAft>
              <a:defRPr sz="1800">
                <a:solidFill>
                  <a:srgbClr val="B8C4B8"/>
                </a:solidFill>
              </a:defRPr>
            </a:pPr>
            <a:r>
              <a:t>• 60 psi: 82 ft average</a:t>
            </a:r>
          </a:p>
          <a:p>
            <a:pPr>
              <a:spcAft>
                <a:spcPts val="800"/>
              </a:spcAft>
              <a:defRPr sz="1800">
                <a:solidFill>
                  <a:srgbClr val="B8C4B8"/>
                </a:solidFill>
              </a:defRPr>
            </a:pPr>
            <a:r>
              <a:t>• Reload time: 35 seconds average</a:t>
            </a:r>
          </a:p>
          <a:p>
            <a:pPr>
              <a:spcAft>
                <a:spcPts val="800"/>
              </a:spcAft>
              <a:defRPr sz="1800">
                <a:solidFill>
                  <a:srgbClr val="B8C4B8"/>
                </a:solidFill>
              </a:defRPr>
            </a:pPr>
            <a:r>
              <a:t>• User learning time: under 2 minutes</a:t>
            </a:r>
          </a:p>
          <a:p>
            <a:pPr>
              <a:spcAft>
                <a:spcPts val="800"/>
              </a:spcAft>
              <a:defRPr sz="1800">
                <a:solidFill>
                  <a:srgbClr val="B8C4B8"/>
                </a:solidFill>
              </a:defRPr>
            </a:pPr>
            <a:r>
              <a:t>• Review: replace these with measured values.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B8C4B8"/>
                </a:solidFill>
              </a:defRPr>
            </a:pPr>
            <a:r>
              <a:t>Hudson Tien | PLTW Engineering Design and Development | Replace placeholder data before final submission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3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D89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89B3D"/>
                </a:solidFill>
              </a:defRPr>
            </a:pPr>
            <a:r>
              <a:t>Slide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88136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2F0E8"/>
                </a:solidFill>
                <a:latin typeface="Georgia"/>
              </a:defRPr>
            </a:pPr>
            <a:r>
              <a:t>Feedback and Modifications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240280"/>
            <a:ext cx="10881360" cy="3886200"/>
          </a:xfrm>
          <a:prstGeom prst="roundRect">
            <a:avLst/>
          </a:prstGeom>
          <a:solidFill>
            <a:srgbClr val="1E2D28"/>
          </a:solidFill>
          <a:ln>
            <a:solidFill>
              <a:srgbClr val="3651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487168"/>
            <a:ext cx="10241280" cy="3429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2F0E8"/>
                </a:solidFill>
              </a:defRPr>
            </a:pPr>
            <a:r>
              <a:t>• Setup was clearer than the old cannon.</a:t>
            </a:r>
          </a:p>
          <a:p>
            <a:pPr>
              <a:spcAft>
                <a:spcPts val="800"/>
              </a:spcAft>
              <a:defRPr sz="1800">
                <a:solidFill>
                  <a:srgbClr val="B8C4B8"/>
                </a:solidFill>
              </a:defRPr>
            </a:pPr>
            <a:r>
              <a:t>• Gauge made operation easier to understand.</a:t>
            </a:r>
          </a:p>
          <a:p>
            <a:pPr>
              <a:spcAft>
                <a:spcPts val="800"/>
              </a:spcAft>
              <a:defRPr sz="1800">
                <a:solidFill>
                  <a:srgbClr val="B8C4B8"/>
                </a:solidFill>
              </a:defRPr>
            </a:pPr>
            <a:r>
              <a:t>• Range was useful for rallies and field events.</a:t>
            </a:r>
          </a:p>
          <a:p>
            <a:pPr>
              <a:spcAft>
                <a:spcPts val="800"/>
              </a:spcAft>
              <a:defRPr sz="1800">
                <a:solidFill>
                  <a:srgbClr val="B8C4B8"/>
                </a:solidFill>
              </a:defRPr>
            </a:pPr>
            <a:r>
              <a:t>• Permanent safety labeling is needed.</a:t>
            </a:r>
          </a:p>
          <a:p>
            <a:pPr>
              <a:spcAft>
                <a:spcPts val="800"/>
              </a:spcAft>
              <a:defRPr sz="1800">
                <a:solidFill>
                  <a:srgbClr val="B8C4B8"/>
                </a:solidFill>
              </a:defRPr>
            </a:pPr>
            <a:r>
              <a:t>• Next: brackets, checklist, payload testing, angle indicator, transport case.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B8C4B8"/>
                </a:solidFill>
              </a:defRPr>
            </a:pPr>
            <a:r>
              <a:t>Hudson Tien | PLTW Engineering Design and Development | Replace placeholder data before final submission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3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D89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89B3D"/>
                </a:solidFill>
              </a:defRPr>
            </a:pPr>
            <a:r>
              <a:t>Slide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88136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2F0E8"/>
                </a:solidFill>
                <a:latin typeface="Georgia"/>
              </a:defRPr>
            </a:pPr>
            <a:r>
              <a:t>Conclusion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240280"/>
            <a:ext cx="10881360" cy="3886200"/>
          </a:xfrm>
          <a:prstGeom prst="roundRect">
            <a:avLst/>
          </a:prstGeom>
          <a:solidFill>
            <a:srgbClr val="1E2D28"/>
          </a:solidFill>
          <a:ln>
            <a:solidFill>
              <a:srgbClr val="3651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487168"/>
            <a:ext cx="10241280" cy="3429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F2F0E8"/>
                </a:solidFill>
              </a:defRPr>
            </a:pPr>
            <a:r>
              <a:t>• A school event launcher is successful when users can operate it safely and consistently.</a:t>
            </a:r>
          </a:p>
          <a:p>
            <a:pPr>
              <a:spcAft>
                <a:spcPts val="800"/>
              </a:spcAft>
              <a:defRPr sz="2200">
                <a:solidFill>
                  <a:srgbClr val="B8C4B8"/>
                </a:solidFill>
              </a:defRPr>
            </a:pPr>
            <a:r>
              <a:t>• The air pressure design better fits actual users than the original spring-loaded concept.</a:t>
            </a:r>
          </a:p>
          <a:p>
            <a:pPr>
              <a:spcAft>
                <a:spcPts val="800"/>
              </a:spcAft>
              <a:defRPr sz="2200">
                <a:solidFill>
                  <a:srgbClr val="B8C4B8"/>
                </a:solidFill>
              </a:defRPr>
            </a:pPr>
            <a:r>
              <a:t>• The pivot was an engineering decision based on evidence.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B8C4B8"/>
                </a:solidFill>
              </a:defRPr>
            </a:pPr>
            <a:r>
              <a:t>Hudson Tien | PLTW Engineering Design and Development | Replace placeholder data before final submission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